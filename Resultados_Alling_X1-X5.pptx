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Conformidad real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1300" b="1" i="0" u="none" strike="noStrike" kern="1200" baseline="0">
                    <a:solidFill>
                      <a:srgbClr val="1B1F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Catálogo</c:v>
                </c:pt>
                <c:pt idx="1">
                  <c:v>Formato Único</c:v>
                </c:pt>
                <c:pt idx="2">
                  <c:v>Checkout</c:v>
                </c:pt>
                <c:pt idx="3">
                  <c:v>Seguridad / Zero Trust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</c:v>
                </c:pt>
                <c:pt idx="1">
                  <c:v>86</c:v>
                </c:pt>
                <c:pt idx="2">
                  <c:v>64</c:v>
                </c:pt>
                <c:pt idx="3">
                  <c:v>65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1B1F3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0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135c5b7c-d718-4f63-a2e2-1df5499a45c5}"/>
      </c:ext>
    </c:extLst>
  </c:chart>
  <c:spPr>
    <a:noFill/>
    <a:ln>
      <a:noFill/>
    </a:ln>
    <a:effectLst/>
  </c:spPr>
  <c:txPr>
    <a:bodyPr/>
    <a:lstStyle/>
    <a:p>
      <a:pPr>
        <a:defRPr lang="es-E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Brechas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3C9D6B"/>
              </a:solidFill>
              <a:effectLst/>
            </c:spPr>
          </c:dPt>
          <c:dPt>
            <c:idx val="1"/>
            <c:bubble3D val="0"/>
            <c:spPr>
              <a:solidFill>
                <a:srgbClr val="D64550"/>
              </a:solidFill>
              <a:effectLst/>
            </c:spPr>
          </c:dPt>
          <c:dLbls>
            <c:dLbl>
              <c:idx val="0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s-ES" sz="1600" b="1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s-ES" sz="1600" b="1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1800" b="1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Cerradas</c:v>
                </c:pt>
                <c:pt idx="1">
                  <c:v>Pendientes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4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133f7456-566a-4089-a6e5-c935ae86bafb}"/>
      </c:ext>
    </c:extLst>
  </c:chart>
  <c:spPr>
    <a:noFill/>
    <a:ln>
      <a:noFill/>
    </a:ln>
    <a:effectLst/>
  </c:spPr>
  <c:txPr>
    <a:bodyPr/>
    <a:lstStyle/>
    <a:p>
      <a:pPr>
        <a:defRPr lang="es-E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X1 Análisis: 87 requisitos funcionales, 24 requisitos no funcionales, 67 historias de usuario, distribuidos en 10 módulos funcionales y 4 actores (GUEST, CUSTOMER, SELLER, ADMIN).
X2 Diseño: contrato openapi_real.json (OpenAPI 3.1) con 50 endpoints y 45 esquemas Pydantic como fuente única de verdad; arquitectura Zero Trust con Row Level Security en PostgreSQL.
X3 Implementación: 8 sprints ejecutados; arquitectura en capas en backend (api/services/domain/models/infra/core) y frontend (app/components/context/hooks/lib).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Auditoría real del código por requisito funcional (Ficha de Análisis Documental SDD) mostró conformidad de 78% en Catálogo, 86% en Formato Único (90% excluyendo ítems aún no verificados), 64% en Checkout (82% excluyendo pendientes) y entre 50% y 80% en Seguridad/Zero Trust (65% como punto medio en el gráfico). Suite automatizada de pruebas: 189 casos (73 unitarias + 112 de integración + 4 adicionales), con 97-98% de aprobación en corridas sucesivas. La prueba de Row Level Security, que inicialmente se omitía por falta de la dependencia opcional Testcontainers, ya se ejecuta y aprueba contra un contenedor real de PostgreSQL.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Cobertura de trazabilidad documental del 100% en los módulos críticos: cada RF, incluso los aún no implementados, cuenta con HU, criterio de aceptación, componente y caso de prueba registrados en MATRIZ_TRAZABILIDAD_GLOBAL.md. Esto es distinto de la conformidad funcional (diapositiva anterior). Registro de 12 brechas bajo el esquema de identificadores BRG-*: 8 cerradas durante el desarrollo (BRG-CAT-001 a 004, BRG-CROSS-004, BRG-NAV-001, BRG-NAV-004, BRG-CRUD-001) y 4 aún documentadas como deuda técnica pendiente (BRG-CROSS-001, BRG-CROSS-002, BRG-CROSS-003, BRG-CROSS-005).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la trazabilidad completa es lo que permitió detectar y ubicar cada brecha con precisión en vez de asumir un cumplimiento no verificado. SDD + Scrum posibilita una gestión verificable de la conformidad entre software construido y especificación, incluso cuando esa conformidad no es perfecta — la deuda técnica queda visible y gestionable, no oculta.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Resultados de la investigación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Plataforma web B2B Alling  ·  Scrum + Spec-Driven Development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566928" cy="56692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868680" y="22860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258568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Análisis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288036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87 RF · 24 RNF · 67 HU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4023360"/>
            <a:ext cx="288036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módulos funcionales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actores: GUEST, CUSTOMER, SELLER, ADMIN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96596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2286000"/>
            <a:ext cx="566928" cy="56692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4709160" y="22860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40680" y="2258568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Diseño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09160" y="3108960"/>
            <a:ext cx="288036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 endpoints · 45 schemas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09160" y="4023360"/>
            <a:ext cx="288036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Contrato OpenAPI 3.1 (openapi_real.json)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Arquitectura Zero Trust + Row Level Security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196596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49640" y="2286000"/>
            <a:ext cx="566928" cy="56692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6"/>
          <p:cNvSpPr/>
          <p:nvPr/>
        </p:nvSpPr>
        <p:spPr>
          <a:xfrm>
            <a:off x="8549640" y="22860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81160" y="2258568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Implementación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549640" y="3108960"/>
            <a:ext cx="288036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sprints ejecutados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49640" y="4023360"/>
            <a:ext cx="288036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Next.js 1</a:t>
            </a:r>
            <a:r>
              <a:rPr lang="es-PE" alt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· FastAPI · PostgreSQL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Arquitectura en capas (backend y frontend)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Fuente: Docs/FASE 2/REQUISITOS_FUNCIONALES.md · REQUISITOS_NO_FUNCIONALES.md · openapi_real.json — repositorio del proyecto.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Funcionamiento / Conformidad a Spec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Auditoría directa del código por requisito funcional (Ficha de Análisis Documental SDD)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417320"/>
          <a:ext cx="70408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909560" y="141732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</p:spPr>
      </p:sp>
      <p:sp>
        <p:nvSpPr>
          <p:cNvPr id="8" name="Text 5"/>
          <p:cNvSpPr/>
          <p:nvPr/>
        </p:nvSpPr>
        <p:spPr>
          <a:xfrm>
            <a:off x="8183880" y="157276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Ningún módulo alcanza 100%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83880" y="192024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64% – 86%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183880" y="2606040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rango de conformidad real por módulo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909560" y="3520440"/>
            <a:ext cx="374904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</p:spPr>
      </p:sp>
      <p:sp>
        <p:nvSpPr>
          <p:cNvPr id="12" name="Text 9"/>
          <p:cNvSpPr/>
          <p:nvPr/>
        </p:nvSpPr>
        <p:spPr>
          <a:xfrm>
            <a:off x="8183880" y="365760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189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8183880" y="429768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pruebas automatizadas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(73 unitarias + 112 integración + 4 adicionales)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183880" y="48920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C9D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97–98%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183880" y="53492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aprobación en corridas sucesivas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prueba de Row Level Security, inicialmente omitida por falta de la dependencia Testcontainers, ya se ejecuta y aprueba contra PostgreSQL real.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Calidad y trazabilidad SDD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896112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Trazabilidad documental completa: no equivale a conformidad funcional (diapositiva anterior)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914400" y="1783080"/>
            <a:ext cx="43891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100%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389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cobertura de trazabilidad documental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 los 4 módulos críticos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43891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Todo requisito funcional — incluso los pendientes — tiene su historia de usuario, criterio de aceptación, componente y caso de prueba registrados en la matriz de trazabilidad.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4709160"/>
            <a:ext cx="43891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 la trazabilidad completa la que permitió ubicar, archivo por archivo, cada desviación — en vez de asumir un cumplimiento no verificado.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89320" y="146304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brechas registradas (esquema BRG-*)</a:t>
            </a:r>
            <a:endParaRPr lang="en-US" sz="14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5989320" y="1828800"/>
          <a:ext cx="3200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9372600" y="1965960"/>
            <a:ext cx="274320" cy="274320"/>
          </a:xfrm>
          <a:prstGeom prst="ellipse">
            <a:avLst/>
          </a:prstGeom>
          <a:solidFill>
            <a:srgbClr val="3C9D6B"/>
          </a:solidFill>
        </p:spPr>
      </p:sp>
      <p:sp>
        <p:nvSpPr>
          <p:cNvPr id="14" name="Text 11"/>
          <p:cNvSpPr/>
          <p:nvPr/>
        </p:nvSpPr>
        <p:spPr>
          <a:xfrm>
            <a:off x="9372600" y="19659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15" name="Text 12"/>
          <p:cNvSpPr/>
          <p:nvPr/>
        </p:nvSpPr>
        <p:spPr>
          <a:xfrm>
            <a:off x="9738360" y="190195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cerradas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372600" y="22860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BRG-CAT-001–004, BRG-CROSS-004,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BRG-NAV-001/004, BRG-CRUD-001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372600" y="3063240"/>
            <a:ext cx="274320" cy="274320"/>
          </a:xfrm>
          <a:prstGeom prst="ellipse">
            <a:avLst/>
          </a:prstGeom>
          <a:solidFill>
            <a:srgbClr val="D64550"/>
          </a:solidFill>
        </p:spPr>
      </p:sp>
      <p:sp>
        <p:nvSpPr>
          <p:cNvPr id="18" name="Text 15"/>
          <p:cNvSpPr/>
          <p:nvPr/>
        </p:nvSpPr>
        <p:spPr>
          <a:xfrm>
            <a:off x="9372600" y="30632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19" name="Text 16"/>
          <p:cNvSpPr/>
          <p:nvPr/>
        </p:nvSpPr>
        <p:spPr>
          <a:xfrm>
            <a:off x="9738360" y="299923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pendientes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372600" y="33832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BRG-CROSS-001, 002, 003, 005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989320" y="4709160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</p:spPr>
      </p:sp>
      <p:sp>
        <p:nvSpPr>
          <p:cNvPr id="22" name="Text 19"/>
          <p:cNvSpPr/>
          <p:nvPr/>
        </p:nvSpPr>
        <p:spPr>
          <a:xfrm>
            <a:off x="6217920" y="4828032"/>
            <a:ext cx="52120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Deuda técnica visible y gestionable: cada brecha pendiente queda documentada con su identificador, no oculta bajo código aparentemente conforme.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48640" cy="54864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3" name="Text 1"/>
          <p:cNvSpPr/>
          <p:nvPr/>
        </p:nvSpPr>
        <p:spPr>
          <a:xfrm>
            <a:off x="822960" y="685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SDD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54480" y="64008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Mensaje central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 trazabilidad completa permitió detectar y ubicar cada brecha con precisión, en vez de asumir un cumplimiento no verificado.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3931920"/>
            <a:ext cx="1005840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60520"/>
            <a:ext cx="98755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Spec-Driven Development + Scrum habilitan una gestión verificable de la conformidad entre software construido y especificación — incluso cuando esa conformidad no es perfecta. La deuda técnica queda visible y gestionable, no oculta.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7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Plataforma B2B Alling  ·  Ayacucho, 2026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uadro de texto 1"/>
          <p:cNvSpPr txBox="1"/>
          <p:nvPr/>
        </p:nvSpPr>
        <p:spPr>
          <a:xfrm>
            <a:off x="1145540" y="827405"/>
            <a:ext cx="9292590" cy="4739005"/>
          </a:xfrm>
          <a:prstGeom prst="rect">
            <a:avLst/>
          </a:prstGeom>
        </p:spPr>
        <p:txBody>
          <a:bodyPr wrap="square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400" b="1" i="0">
                <a:solidFill>
                  <a:srgbClr val="003366"/>
                </a:solidFill>
                <a:latin typeface="Cambria" panose="02040503050406030204"/>
                <a:ea typeface="Cambria" panose="02040503050406030204"/>
              </a:rPr>
              <a:t>Conclusiones</a:t>
            </a:r>
            <a:endParaRPr lang="en-US" altLang="zh-CN" sz="4400" b="1" i="0">
              <a:solidFill>
                <a:srgbClr val="003366"/>
              </a:solidFill>
              <a:latin typeface="Cambria" panose="02040503050406030204"/>
              <a:ea typeface="Cambria" panose="02040503050406030204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a) Análisis</a:t>
            </a:r>
            <a:endParaRPr lang="en-US" altLang="zh-CN" sz="1600" b="1" i="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0" i="0">
                <a:solidFill>
                  <a:srgbClr val="1F2937"/>
                </a:solidFill>
                <a:latin typeface="Calibri" panose="020F0502020204030204"/>
                <a:ea typeface="Calibri" panose="020F0502020204030204"/>
              </a:rPr>
              <a:t>87 RFs, 24 RNFs y 67 HUs especificados formalmente, derivados sin invención del Inventario Funcional Maestro.</a:t>
            </a:r>
            <a:endParaRPr lang="en-US" altLang="zh-CN" b="0" i="0">
              <a:solidFill>
                <a:srgbClr val="1F2937"/>
              </a:solidFill>
              <a:latin typeface="Calibri" panose="020F0502020204030204"/>
              <a:ea typeface="Calibri" panose="020F0502020204030204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b) Diseño</a:t>
            </a:r>
            <a:endParaRPr lang="en-US" altLang="zh-CN" sz="1600" b="1" i="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0" i="0">
                <a:solidFill>
                  <a:srgbClr val="1F2937"/>
                </a:solidFill>
                <a:latin typeface="Calibri" panose="020F0502020204030204"/>
                <a:ea typeface="Calibri" panose="020F0502020204030204"/>
              </a:rPr>
              <a:t>Arquitectura Zero Trust + RLS y contrato OpenAPI 3.1 (50 endpoints, 45 esquemas) como fuente de verdad.</a:t>
            </a:r>
            <a:endParaRPr lang="en-US" altLang="zh-CN" b="0" i="0">
              <a:solidFill>
                <a:srgbClr val="1F2937"/>
              </a:solidFill>
              <a:latin typeface="Calibri" panose="020F0502020204030204"/>
              <a:ea typeface="Calibri" panose="020F0502020204030204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c) Implementación</a:t>
            </a:r>
            <a:endParaRPr lang="en-US" altLang="zh-CN" sz="1600" b="1" i="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0" i="0">
                <a:solidFill>
                  <a:srgbClr val="1F2937"/>
                </a:solidFill>
                <a:latin typeface="Calibri" panose="020F0502020204030204"/>
                <a:ea typeface="Calibri" panose="020F0502020204030204"/>
              </a:rPr>
              <a:t>8 sprints Scrum + SDD + XP construyeron un MVP operativo con trazabilidad de código a requisito.</a:t>
            </a:r>
            <a:endParaRPr lang="en-US" altLang="zh-CN" b="0" i="0">
              <a:solidFill>
                <a:srgbClr val="1F2937"/>
              </a:solidFill>
              <a:latin typeface="Calibri" panose="020F0502020204030204"/>
              <a:ea typeface="Calibri" panose="020F0502020204030204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d) Funcionamiento</a:t>
            </a:r>
            <a:endParaRPr lang="en-US" altLang="zh-CN" sz="1600" b="1" i="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0" i="0">
                <a:solidFill>
                  <a:srgbClr val="1F2937"/>
                </a:solidFill>
                <a:latin typeface="Calibri" panose="020F0502020204030204"/>
                <a:ea typeface="Calibri" panose="020F0502020204030204"/>
              </a:rPr>
              <a:t>64 - 78% en promedio de cumplimiento en la Ficha de Análisis Documental SDD, en los 4 módulos críticos.</a:t>
            </a:r>
            <a:endParaRPr lang="en-US" altLang="zh-CN" b="0" i="0">
              <a:solidFill>
                <a:srgbClr val="1F2937"/>
              </a:solidFill>
              <a:latin typeface="Calibri" panose="020F0502020204030204"/>
              <a:ea typeface="Calibri" panose="020F0502020204030204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e) Calidad y trazabilidad SDD</a:t>
            </a:r>
            <a:endParaRPr lang="en-US" altLang="zh-CN" sz="1600" b="1" i="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0" i="0">
                <a:solidFill>
                  <a:srgbClr val="1F2937"/>
                </a:solidFill>
                <a:latin typeface="Calibri" panose="020F0502020204030204"/>
                <a:ea typeface="Calibri" panose="020F0502020204030204"/>
              </a:rPr>
              <a:t>100% de trazabilidad en críticos; 12 brechas identificadas y 100% documentadas como deuda técnica visible.</a:t>
            </a:r>
            <a:endParaRPr lang="en-US" altLang="zh-CN" b="0" i="0">
              <a:solidFill>
                <a:srgbClr val="1F2937"/>
              </a:solidFill>
              <a:latin typeface="Calibri" panose="020F0502020204030204"/>
              <a:ea typeface="Calibri" panose="020F0502020204030204"/>
            </a:endParaRPr>
          </a:p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altLang="zh-CN" sz="1600" b="0" i="0">
              <a:solidFill>
                <a:srgbClr val="6B7280"/>
              </a:solidFill>
              <a:latin typeface="Calibri" panose="020F0502020204030204"/>
              <a:ea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2809</Words>
  <Application>WPS Presentation</Application>
  <PresentationFormat>On-screen Show (16:9)</PresentationFormat>
  <Paragraphs>107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Arial</vt:lpstr>
      <vt:lpstr>Cambria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Revisión de resultados — Plataforma Alling</dc:creator>
  <dc:subject>PptxGenJS Presentation</dc:subject>
  <cp:lastModifiedBy>WPS_1776732610</cp:lastModifiedBy>
  <cp:revision>3</cp:revision>
  <dcterms:created xsi:type="dcterms:W3CDTF">2026-07-20T21:20:00Z</dcterms:created>
  <dcterms:modified xsi:type="dcterms:W3CDTF">2026-07-21T09:38:15Z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3082-12.1.0.27458</vt:lpwstr>
  </property>
  <property fmtid="{D5CDD505-2E9C-101B-9397-08002B2CF9AE}" pid="3" name="ICV">
    <vt:lpwstr>2B0DA1772E2649CEAD6E4D152B931B66_12</vt:lpwstr>
  </property>
</Properties>
</file>